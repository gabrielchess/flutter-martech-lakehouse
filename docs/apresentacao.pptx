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Taxa de retorno</c:v>
                </c:pt>
              </c:strCache>
            </c:strRef>
          </c:tx>
          <c:spPr>
            <a:solidFill>
              <a:srgbClr val="9FB4E8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9FB4E8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9FB4E8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9FB4E8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9FB4E8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1E2761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1E2761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1E2761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1E2761"/>
              </a:solidFill>
              <a:ln w="0">
                <a:noFill/>
              </a:ln>
            </c:spPr>
          </c:dPt>
          <c:dLbls>
            <c:dLbl>
              <c:idx val="0"/>
              <c:numFmt formatCode="0.0\%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3A3A4E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\%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3A3A4E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\%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3A3A4E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\%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3A3A4E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\%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3A3A4E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.0\%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3A3A4E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.0\%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3A3A4E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0.0\%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3A3A4E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\%" sourceLinked="0"/>
            <c:txPr>
              <a:bodyPr wrap="square"/>
              <a:lstStyle/>
              <a:p>
                <a:pPr>
                  <a:defRPr sz="1000" b="1" u="none" strike="noStrike">
                    <a:solidFill>
                      <a:srgbClr val="3A3A4E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até 7</c:v>
                </c:pt>
                <c:pt idx="1">
                  <c:v>8–14</c:v>
                </c:pt>
                <c:pt idx="2">
                  <c:v>15–21</c:v>
                </c:pt>
                <c:pt idx="3">
                  <c:v>22–30</c:v>
                </c:pt>
                <c:pt idx="4">
                  <c:v>31–45</c:v>
                </c:pt>
                <c:pt idx="5">
                  <c:v>46–60</c:v>
                </c:pt>
                <c:pt idx="6">
                  <c:v>61–84</c:v>
                </c:pt>
                <c:pt idx="7">
                  <c:v>85+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99.2</c:v>
                </c:pt>
                <c:pt idx="1">
                  <c:v>92.3</c:v>
                </c:pt>
                <c:pt idx="2">
                  <c:v>78</c:v>
                </c:pt>
                <c:pt idx="3">
                  <c:v>65.5</c:v>
                </c:pt>
                <c:pt idx="4">
                  <c:v>48.9</c:v>
                </c:pt>
                <c:pt idx="5">
                  <c:v>31.8</c:v>
                </c:pt>
                <c:pt idx="6">
                  <c:v>13.9</c:v>
                </c:pt>
                <c:pt idx="7">
                  <c:v>0</c:v>
                </c:pt>
              </c:numCache>
            </c:numRef>
          </c:val>
        </c:ser>
        <c:gapWidth val="45"/>
        <c:overlap val="0"/>
        <c:axId val="36418362"/>
        <c:axId val="41836032"/>
      </c:barChart>
      <c:catAx>
        <c:axId val="3641836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A5A6E"/>
                </a:solidFill>
                <a:uFillTx/>
                <a:latin typeface="Calibri"/>
              </a:defRPr>
            </a:pPr>
          </a:p>
        </c:txPr>
        <c:crossAx val="41836032"/>
        <c:crosses val="autoZero"/>
        <c:auto val="1"/>
        <c:lblAlgn val="ctr"/>
        <c:lblOffset val="100"/>
        <c:noMultiLvlLbl val="0"/>
      </c:catAx>
      <c:valAx>
        <c:axId val="41836032"/>
        <c:scaling>
          <c:orientation val="minMax"/>
          <c:max val="100"/>
          <c:min val="0"/>
        </c:scaling>
        <c:delete val="0"/>
        <c:axPos val="l"/>
        <c:majorGridlines>
          <c:spPr>
            <a:ln w="12600">
              <a:solidFill>
                <a:srgbClr val="E6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9A9AAE"/>
                </a:solidFill>
                <a:uFillTx/>
                <a:latin typeface="Calibri"/>
              </a:defRPr>
            </a:pPr>
          </a:p>
        </c:txPr>
        <c:crossAx val="36418362"/>
        <c:crosses val="autoZero"/>
        <c:crossBetween val="between"/>
        <c:majorUnit val="25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63ED4D4-B44F-4C1C-97C7-D3720FEE7ED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Abertura. O pipeline existe para responder uma pergunta de negocio, nao para exibir arquitetura.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C18A32-F98B-4FB4-BEB7-E0CBD41664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Parte 1: como o dado foi organizado e como o pipeline roda em producao.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254DBF-08E1-43E6-B58B-6D62922510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Silver e a camada limpa: sem duplicata, tipada, com valor em BRL ao lado do original. Nenhuma semantica de negocio entra aqui.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D67C3D-B1DD-4947-B6CC-072F066069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star reorganiza por processo de negocio. Tres fatos porque sao tres processos com granularidades diferentes.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384849-4684-4265-AB8C-9DE7D0132C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Serverless por escolha: o volume nao justifica cluster e Lambda + Athena custam zero parado. Bronze e imutavel para quem transforma — as roles tem Deny explicito de escrita em bronze.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8A1FC9-E7B5-4F31-BFBB-8443E44F98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Parte 2: da base construida para a resposta de negocio.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586DB1-D67D-460B-B953-76CAF5CC55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limiar sai do comportamento observado, nao de convencao. Limite reconhecido: a regua e medida sobre 8 meses, entao um jogador de ciclo sazonal — que aposta so em Copa — cairia em perdido indevidamente.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4DD80C-8BF6-4621-985C-8B3D84D20D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Quartis calculados sobre os 123 acionaveis, nao sobre a carteira. O limite reconhecido: por ser relativo, 'muito alto' nao significa nada em absoluto — um jogador pode mudar de faixa sem mudar de comportamento, so porque a populacao mudou.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5ED7D3-1174-47F0-8AAE-F741A3C9B4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oferta e atribuida pelo ULTIMO toque anterior a data de referencia — com 1.258 toques nao ha volume para modelo multi-touch. 'none' e uma oferta valida do vocabulario, nao ausencia de dado; 'sem_contato' e quem nunca recebeu toque.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A2F99D-8B52-48D5-BEDF-124CFDE321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Escrito para um gerente de Growth. O corte de 84 dias e o que separa reativacao de reaquisicao. O valor esperado depende de uma premissa de lift sem histórico para calibrar — dizer isso antes de perguntarem e mais forte que ser pego.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F0372F-E01C-4A02-8B8B-254466CE01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822960" y="1874520"/>
            <a:ext cx="7314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30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Case Técnico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22960" y="2286000"/>
            <a:ext cx="10057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Martech Specialist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3291840"/>
            <a:ext cx="7863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Quais jogadores dormentes vale a pena reativar,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com qual oferta, e quanto eles valem.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22960" y="4709160"/>
            <a:ext cx="502200" cy="36000"/>
          </a:xfrm>
          <a:prstGeom prst="rect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489204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A3D9"/>
                </a:solidFill>
                <a:effectLst/>
                <a:uFillTx/>
                <a:latin typeface="Calibri"/>
                <a:ea typeface="Calibri"/>
              </a:rPr>
              <a:t>Flutter Brazil  ·  Data de referência 2024-04-01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822960" y="2331720"/>
            <a:ext cx="959400" cy="95940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822960" y="2331720"/>
            <a:ext cx="959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2148840" y="2377440"/>
            <a:ext cx="8686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Engenharia de Dados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2194560" y="3108960"/>
            <a:ext cx="8686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Modelagem física e arquitetura em produção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48640" y="38412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MODELO FÍSICO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48640" y="65844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Camada Silver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img/modelo_silver.png"/>
          <p:cNvPicPr/>
          <p:nvPr/>
        </p:nvPicPr>
        <p:blipFill>
          <a:blip r:embed="rId1"/>
          <a:stretch/>
        </p:blipFill>
        <p:spPr>
          <a:xfrm>
            <a:off x="548640" y="1417320"/>
            <a:ext cx="4365000" cy="50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hape 2"/>
          <p:cNvSpPr/>
          <p:nvPr/>
        </p:nvSpPr>
        <p:spPr>
          <a:xfrm>
            <a:off x="5463000" y="1463040"/>
            <a:ext cx="6057720" cy="1078200"/>
          </a:xfrm>
          <a:prstGeom prst="roundRect">
            <a:avLst>
              <a:gd name="adj" fmla="val 5085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5718960" y="1591200"/>
            <a:ext cx="5600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Grão preservado da origem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718960" y="1901880"/>
            <a:ext cx="56005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Uma linha por evento: um depósito, uma aposta, um contato.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5463000" y="2688480"/>
            <a:ext cx="6057720" cy="1078200"/>
          </a:xfrm>
          <a:prstGeom prst="roundRect">
            <a:avLst>
              <a:gd name="adj" fmla="val 5085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5718960" y="2816280"/>
            <a:ext cx="5600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Conversão com rastro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718960" y="3127320"/>
            <a:ext cx="56005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Cada valor guarda a taxa aplicada e o dia em que o BCE a publicou.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5463000" y="3913560"/>
            <a:ext cx="6057720" cy="1078200"/>
          </a:xfrm>
          <a:prstGeom prst="roundRect">
            <a:avLst>
              <a:gd name="adj" fmla="val 5085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5718960" y="4041720"/>
            <a:ext cx="5600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Câmbio é lookup, não FK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5718960" y="4352400"/>
            <a:ext cx="56005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A ligação é por (data, moeda). A tabela é densa: uma linha por dia corrido, com carry-forward.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5463000" y="5139000"/>
            <a:ext cx="6057720" cy="1078200"/>
          </a:xfrm>
          <a:prstGeom prst="roundRect">
            <a:avLst>
              <a:gd name="adj" fmla="val 5085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5718960" y="5266800"/>
            <a:ext cx="5600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Nada some em silêncio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5718960" y="5577840"/>
            <a:ext cx="56005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Toda linha removida vai para quarantine/ com o motivo. Um check garante: linhas_bronze == silver + quarentena.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548640" y="38412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MODELO FÍSICO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548640" y="65844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Camada Gold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0" descr="img/modelo_gold.png"/>
          <p:cNvPicPr/>
          <p:nvPr/>
        </p:nvPicPr>
        <p:blipFill>
          <a:blip r:embed="rId1"/>
          <a:stretch/>
        </p:blipFill>
        <p:spPr>
          <a:xfrm>
            <a:off x="548640" y="1417320"/>
            <a:ext cx="3491640" cy="50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Shape 2"/>
          <p:cNvSpPr/>
          <p:nvPr/>
        </p:nvSpPr>
        <p:spPr>
          <a:xfrm>
            <a:off x="4589640" y="1463040"/>
            <a:ext cx="6931080" cy="1078200"/>
          </a:xfrm>
          <a:prstGeom prst="roundRect">
            <a:avLst>
              <a:gd name="adj" fmla="val 5085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4845960" y="1591200"/>
            <a:ext cx="6473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Star schema Kimball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4845960" y="1901880"/>
            <a:ext cx="64738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3 dimensões conformadas e 3 fatos. Cada grão declarado e verificado por contrato.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4589640" y="2688480"/>
            <a:ext cx="6931080" cy="1078200"/>
          </a:xfrm>
          <a:prstGeom prst="roundRect">
            <a:avLst>
              <a:gd name="adj" fmla="val 5085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4845960" y="2816280"/>
            <a:ext cx="6473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Fato não se junta a fato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4845960" y="3127320"/>
            <a:ext cx="64738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O encontro é nas dimensões.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4589640" y="3913560"/>
            <a:ext cx="6931080" cy="1078200"/>
          </a:xfrm>
          <a:prstGeom prst="roundRect">
            <a:avLst>
              <a:gd name="adj" fmla="val 5085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4845960" y="4041720"/>
            <a:ext cx="6473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dim_date é gerada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4845960" y="4352400"/>
            <a:ext cx="64738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Derivada dos fatos teria buraco nos dias sem movimento — e 'quantos dias parado?' viraria impossível.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4589640" y="5139000"/>
            <a:ext cx="6931080" cy="1078200"/>
          </a:xfrm>
          <a:prstGeom prst="roundRect">
            <a:avLst>
              <a:gd name="adj" fmla="val 5085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4845960" y="5266800"/>
            <a:ext cx="6473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Agregado por jogador é view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4845960" y="5577840"/>
            <a:ext cx="64738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vw_player_360 não é materializada: 250 jogadores não pagam uma tabela a mais para manter.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48640" y="38412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EM PRODUÇÃO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48640" y="65844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Arquitetura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img/arquitetura.png"/>
          <p:cNvPicPr/>
          <p:nvPr/>
        </p:nvPicPr>
        <p:blipFill>
          <a:blip r:embed="rId1"/>
          <a:stretch/>
        </p:blipFill>
        <p:spPr>
          <a:xfrm>
            <a:off x="548640" y="1371600"/>
            <a:ext cx="7588800" cy="39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Shape 2"/>
          <p:cNvSpPr/>
          <p:nvPr/>
        </p:nvSpPr>
        <p:spPr>
          <a:xfrm>
            <a:off x="8412480" y="1417320"/>
            <a:ext cx="3199680" cy="12794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8641080" y="153612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flutter-fx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8641080" y="181980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7A5A"/>
                </a:solidFill>
                <a:effectLst/>
                <a:uFillTx/>
                <a:latin typeface="Calibri"/>
                <a:ea typeface="Calibri"/>
              </a:rPr>
              <a:t>Frankfurter → reference/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8641080" y="2075760"/>
            <a:ext cx="2833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Ingere as cotações do BCE e materializa a tabela diária densa.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6"/>
          <p:cNvSpPr/>
          <p:nvPr/>
        </p:nvSpPr>
        <p:spPr>
          <a:xfrm>
            <a:off x="8412480" y="2834640"/>
            <a:ext cx="3199680" cy="12794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8641080" y="295344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flutter-silver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8641080" y="323712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7A5A"/>
                </a:solidFill>
                <a:effectLst/>
                <a:uFillTx/>
                <a:latin typeface="Calibri"/>
                <a:ea typeface="Calibri"/>
              </a:rPr>
              <a:t>bronze/ → silver/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8641080" y="3493080"/>
            <a:ext cx="2833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Valida, deduplica, quarentena, tipa e converte para BRL.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0"/>
          <p:cNvSpPr/>
          <p:nvPr/>
        </p:nvSpPr>
        <p:spPr>
          <a:xfrm>
            <a:off x="8412480" y="4251960"/>
            <a:ext cx="3199680" cy="12794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8641080" y="437076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flutter-gold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8641080" y="465444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7A5A"/>
                </a:solidFill>
                <a:effectLst/>
                <a:uFillTx/>
                <a:latin typeface="Calibri"/>
                <a:ea typeface="Calibri"/>
              </a:rPr>
              <a:t>silver/ → gold/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8641080" y="4910400"/>
            <a:ext cx="2833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Monta o star schema e publica de forma atômica.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548640" y="562356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Step Functions em sequência  ·  EventBridge Scheduler mensal  ·  métricas via EMF no CloudWatch  ·  tudo provisionado por Terraform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548640" y="598932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Retry só em falha transitória de infra. Reprovação de Data Quality não é retentada: repetir dado ruim gasta dinheiro para falhar igual.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822960" y="2331720"/>
            <a:ext cx="959400" cy="95940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822960" y="2331720"/>
            <a:ext cx="959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2148840" y="2377440"/>
            <a:ext cx="8686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Análise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2194560" y="3108960"/>
            <a:ext cx="8686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Dormência, segmentação por valor e recomendação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38412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DEFINIÇÃO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48640" y="65844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Jogador dormente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548640" y="1417320"/>
            <a:ext cx="4662720" cy="13708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777240" y="157284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CADCFC"/>
                </a:solidFill>
                <a:effectLst/>
                <a:uFillTx/>
                <a:latin typeface="Courier New"/>
                <a:ea typeface="Courier New"/>
              </a:rPr>
              <a:t>atividade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=  depósito confirmado OU aposta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777240" y="189288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CADCFC"/>
                </a:solidFill>
                <a:effectLst/>
                <a:uFillTx/>
                <a:latin typeface="Courier New"/>
                <a:ea typeface="Courier New"/>
              </a:rPr>
              <a:t>dias_inativos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=  hoje − última atividade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777240" y="2240280"/>
            <a:ext cx="4206240" cy="360"/>
          </a:xfrm>
          <a:prstGeom prst="line">
            <a:avLst/>
          </a:prstGeom>
          <a:ln w="12700">
            <a:solidFill>
              <a:srgbClr val="3D4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777240" y="2359080"/>
            <a:ext cx="4296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dormente  =  dias_inativos &gt; 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548640" y="3017520"/>
            <a:ext cx="4662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Até 30 dias, o jogador volta sozinho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548640" y="3291840"/>
            <a:ext cx="4662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De 22 a 30 dias parados, 65,5% retomam a atividade por conta própria. De 31 a 45, só 48,9%. Gastar verba antes do limiar é pagar por quem voltaria de graça.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5806440" y="1371600"/>
            <a:ext cx="585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Taxa de retorno por tempo parado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5806440" y="1645920"/>
            <a:ext cx="5851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% das pausas que terminaram com o jogador voltando  ·  2.958 pausas em 243 jogadores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5669280" y="1965960"/>
          <a:ext cx="6034320" cy="3656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Text 11"/>
          <p:cNvSpPr/>
          <p:nvPr/>
        </p:nvSpPr>
        <p:spPr>
          <a:xfrm>
            <a:off x="5806440" y="5669280"/>
            <a:ext cx="585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claro: volta sozinho, não gaste verba   ·   escuro: alvo de reativação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48640" y="38412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SEGMENTAÇÃO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48640" y="65844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Dormentes por valor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548640" y="1417320"/>
            <a:ext cx="4662720" cy="187380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22960" y="1572840"/>
            <a:ext cx="1462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30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2240280" y="1755720"/>
            <a:ext cx="2285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jogadores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de 119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822960" y="2541960"/>
            <a:ext cx="4114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concentram 57% de todo o valor dormente da carteira.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548640" y="3520440"/>
            <a:ext cx="4662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Classificacao por Quartis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548640" y="3794760"/>
            <a:ext cx="46627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Os cortes saem dos dados. "Acima de R$ 5.000 é alto" é número escolhido a dedo e quebra quando muda o período ou o câmbio.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548640" y="4480560"/>
            <a:ext cx="4662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Calculados só sobre o alvo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548640" y="4754880"/>
            <a:ext cx="46627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Os 119 acionáveis, não a carteira toda. Misturar jogadores ativos deslocaria todos os cortes para cima.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5806440" y="1371600"/>
            <a:ext cx="585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Quartis de LTV entre os 119 dormentes acionáveis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5806440" y="1645920"/>
            <a:ext cx="5851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LTV = soma dos depósitos confirmados, convertidos em BRL pela taxa da data da transação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5" name="Table 0"/>
          <p:cNvGraphicFramePr/>
          <p:nvPr/>
        </p:nvGraphicFramePr>
        <p:xfrm>
          <a:off x="5806440" y="2011680"/>
          <a:ext cx="5851800" cy="240372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  <a:gridCol w="1051560"/>
                <a:gridCol w="1051560"/>
              </a:tblGrid>
              <a:tr h="502920">
                <a:tc>
                  <a:txBody>
                    <a:bodyPr lIns="54720" tIns="54720" r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Faixa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Jogadores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Depósitos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(média)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LTV médio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% do valor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75200">
                <a:tc>
                  <a:txBody>
                    <a:bodyPr lIns="54720" tIns="54720" r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Q4  muito alto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9,0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10.177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56,7%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54720" tIns="54720" r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Q3  alto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3,9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4.057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23,4%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54720" tIns="54720" r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Q2  médio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2,5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2.334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13,4%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54720" tIns="54720" r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Q1  baixo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1.129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6,5%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Text 14"/>
          <p:cNvSpPr/>
          <p:nvPr/>
        </p:nvSpPr>
        <p:spPr>
          <a:xfrm>
            <a:off x="5806440" y="4709160"/>
            <a:ext cx="585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Q4 deposita 6× mais vezes que Q1: a diferença entre as faixas é de hábito, não só de ticket.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5806440" y="5120640"/>
            <a:ext cx="585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Fora do alvo: 7 nunca ativaram, 28 dormentes nunca depositaram confirmado e 15 estão bloqueados por compliance.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548640" y="38412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VALOR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548640" y="65844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LTV por canal, oferta e produto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48640" y="1206720"/>
            <a:ext cx="11154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Apenas jogadores com KYC verificado: 197 de 250, R$ 805 mil em depósitos confirmados  ·  acionáveis = dormentes com valor que a campanha pode mirar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548640" y="1764720"/>
            <a:ext cx="3565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Canal de aquisição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2" name="Table 0"/>
          <p:cNvGraphicFramePr/>
          <p:nvPr/>
        </p:nvGraphicFramePr>
        <p:xfrm>
          <a:off x="548640" y="2057400"/>
          <a:ext cx="3108600" cy="2123640"/>
        </p:xfrm>
        <a:graphic>
          <a:graphicData uri="http://schemas.openxmlformats.org/drawingml/2006/table">
            <a:tbl>
              <a:tblPr/>
              <a:tblGrid>
                <a:gridCol w="763200"/>
                <a:gridCol w="717120"/>
                <a:gridCol w="700920"/>
                <a:gridCol w="927720"/>
              </a:tblGrid>
              <a:tr h="31068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Canal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Players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Acion.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LTV médio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21600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unknown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17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6.991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organic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41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4.632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influencer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33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4.027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37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3.835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affiliate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32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3.793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paid_social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37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2.706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Text 4"/>
          <p:cNvSpPr/>
          <p:nvPr/>
        </p:nvSpPr>
        <p:spPr>
          <a:xfrm>
            <a:off x="4206600" y="1764720"/>
            <a:ext cx="3565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Oferta do último toque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4" name="Table 1"/>
          <p:cNvGraphicFramePr/>
          <p:nvPr/>
        </p:nvGraphicFramePr>
        <p:xfrm>
          <a:off x="4226400" y="2065320"/>
          <a:ext cx="3047760" cy="3192480"/>
        </p:xfrm>
        <a:graphic>
          <a:graphicData uri="http://schemas.openxmlformats.org/drawingml/2006/table">
            <a:tbl>
              <a:tblPr/>
              <a:tblGrid>
                <a:gridCol w="910080"/>
                <a:gridCol w="596160"/>
                <a:gridCol w="717120"/>
                <a:gridCol w="824760"/>
              </a:tblGrid>
              <a:tr h="26352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Oferta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Players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Acion.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LTV médio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6612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bonus50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4.642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612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freebet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4.596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612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freespins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53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4.267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612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52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3.811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612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bonus100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3.481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612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sem_contato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2.117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612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unknown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2.094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612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cashback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2.010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Text 5"/>
          <p:cNvSpPr/>
          <p:nvPr/>
        </p:nvSpPr>
        <p:spPr>
          <a:xfrm>
            <a:off x="8138160" y="1764720"/>
            <a:ext cx="3565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Produto principal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Table 2"/>
          <p:cNvGraphicFramePr/>
          <p:nvPr/>
        </p:nvGraphicFramePr>
        <p:xfrm>
          <a:off x="8138160" y="2057400"/>
          <a:ext cx="3453120" cy="1242720"/>
        </p:xfrm>
        <a:graphic>
          <a:graphicData uri="http://schemas.openxmlformats.org/drawingml/2006/table">
            <a:tbl>
              <a:tblPr/>
              <a:tblGrid>
                <a:gridCol w="718920"/>
                <a:gridCol w="672480"/>
                <a:gridCol w="735120"/>
                <a:gridCol w="1326960"/>
              </a:tblGrid>
              <a:tr h="31068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Produto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Players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Acion.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LTV médio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1068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sports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87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4.575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casino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84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4.322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nenhum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26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1.698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Shape 6"/>
          <p:cNvSpPr/>
          <p:nvPr/>
        </p:nvSpPr>
        <p:spPr>
          <a:xfrm>
            <a:off x="8092800" y="3657600"/>
            <a:ext cx="3565440" cy="202932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8366760" y="3859200"/>
            <a:ext cx="319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 achado: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8366760" y="4114800"/>
            <a:ext cx="31996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Os 17 jogadores sem canal de aquisição registrado têm o maior LTV por cabeça da base: R$ 6.991, 51% acima do segundo colocado.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Produto não discrimina: 206 dos 213 apostadores jogam nos dois.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685800" y="548640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bonus50 e freespins juntam 54 dos 100 acionáveis e o maior LTV médio, a oferta que funciona melhor é também a de maior alcance.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48640" y="38412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RECOMENDAÇÃO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548640" y="65844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Quem mirar, com qual oferta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548640" y="1463040"/>
            <a:ext cx="474840" cy="474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548640" y="14630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1207080" y="1481400"/>
            <a:ext cx="4845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Mire 30 jogadores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1207080" y="1810440"/>
            <a:ext cx="48456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De 250 jogadores: 197 com KYC verificado, destes 119 </a:t>
            </a: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dormentes acionáveis (Com valor e sem autoexclusão), destes 68 ainda com chance de retorno (parados até 84 dias) e destes, os 30 das faixas Q4 e Q3.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6"/>
          <p:cNvSpPr/>
          <p:nvPr/>
        </p:nvSpPr>
        <p:spPr>
          <a:xfrm>
            <a:off x="548640" y="2944440"/>
            <a:ext cx="474840" cy="474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548640" y="29444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1207080" y="2962800"/>
            <a:ext cx="4845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Ofereça bonus50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1207080" y="3291840"/>
            <a:ext cx="48456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Maior LTV médio (R$ 4.642) e maior alcance: 26 dos 119 acionáveis já vieram dela. É a oferta que funciona e cobre mais gente ao mesmo tempo.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0"/>
          <p:cNvSpPr/>
          <p:nvPr/>
        </p:nvSpPr>
        <p:spPr>
          <a:xfrm>
            <a:off x="548640" y="4425840"/>
            <a:ext cx="474840" cy="474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548640" y="44258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1207080" y="4443840"/>
            <a:ext cx="4845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R$ 199.800 em jogo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1207080" y="4443840"/>
            <a:ext cx="4845600" cy="11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É o que esses 30 depositaram historicamente: R$ 6.660 cada, em média. Equivale a 86% de todo o valor ainda recuperável.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6583680" y="146304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Valor esperado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6583680" y="1737360"/>
            <a:ext cx="5028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O grupo está parado há 57 dias em média: faixa onde 30% voltam sozinhos. A campanha só ganha o que adicionar acima disso:  valor adicional = 30 jogadores × lift × R$ 6.660.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7" name="Table 0"/>
          <p:cNvGraphicFramePr/>
          <p:nvPr/>
        </p:nvGraphicFramePr>
        <p:xfrm>
          <a:off x="6583680" y="2331720"/>
          <a:ext cx="5028840" cy="157176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554480"/>
              </a:tblGrid>
              <a:tr h="420480">
                <a:tc>
                  <a:txBody>
                    <a:bodyPr lIns="54720" tIns="54720" r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 a campanha converter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Jogadores a mais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Valor adicional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3760">
                <a:tc>
                  <a:txBody>
                    <a:bodyPr lIns="54720" tIns="54720" r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  +5 p.p.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 a 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R$ 10.000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54720" r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  +10 p.p.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R$ 20.000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54720" r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  +15 p.p.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 a 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54720" rIns="54720" b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R$ 30.000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54720" marB="54720">
                    <a:lnL w="12240">
                      <a:solidFill>
                        <a:srgbClr val="E2E6F2"/>
                      </a:solidFill>
                      <a:prstDash val="solid"/>
                    </a:lnL>
                    <a:lnR w="12240">
                      <a:solidFill>
                        <a:srgbClr val="E2E6F2"/>
                      </a:solidFill>
                      <a:prstDash val="solid"/>
                    </a:lnR>
                    <a:lnT w="12240">
                      <a:solidFill>
                        <a:srgbClr val="E2E6F2"/>
                      </a:solidFill>
                      <a:prstDash val="solid"/>
                    </a:lnT>
                    <a:lnB w="12240">
                      <a:solidFill>
                        <a:srgbClr val="E2E6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8" name="Shape 16"/>
          <p:cNvSpPr/>
          <p:nvPr/>
        </p:nvSpPr>
        <p:spPr>
          <a:xfrm>
            <a:off x="6583680" y="4114800"/>
            <a:ext cx="5028480" cy="1371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8"/>
          <p:cNvSpPr/>
          <p:nvPr/>
        </p:nvSpPr>
        <p:spPr>
          <a:xfrm>
            <a:off x="6583680" y="42523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Trade-offs assumidos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9"/>
          <p:cNvSpPr/>
          <p:nvPr/>
        </p:nvSpPr>
        <p:spPr>
          <a:xfrm>
            <a:off x="6629760" y="4526280"/>
            <a:ext cx="5028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ts val="1400"/>
              </a:lnSpc>
              <a:spcAft>
                <a:spcPts val="601"/>
              </a:spcAft>
              <a:buClr>
                <a:srgbClr val="5A5A6E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5A5A6E"/>
                </a:solidFill>
                <a:effectLst/>
                <a:uFillTx/>
                <a:latin typeface="Calibri"/>
                <a:ea typeface="Calibri"/>
              </a:rPr>
              <a:t>51 jogadores parados há mais de 84 dias ficam de for a: R$ 209 mil. Nenhum jogador da base jamais voltou desse ponto; se quiser testar, trate como reaquisição, com amostra pequena.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2026-08-24T13:51:16Z</dcterms:created>
  <dc:creator>Gabriel Senra</dc:creator>
  <dc:description/>
  <dc:language>en-US</dc:language>
  <cp:lastModifiedBy/>
  <dcterms:modified xsi:type="dcterms:W3CDTF">2026-08-24T12:34:21Z</dcterms:modified>
  <cp:revision>3</cp:revision>
  <dc:subject>PptxGenJS Presentation</dc:subject>
  <dc:title>Case Tecnico - Martech Specialist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